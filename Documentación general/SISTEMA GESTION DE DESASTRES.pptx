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Proxima Nova"/>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roximaNova-regular.fntdata"/><Relationship Id="rId21" Type="http://schemas.openxmlformats.org/officeDocument/2006/relationships/slide" Target="slides/slide16.xml"/><Relationship Id="rId24" Type="http://schemas.openxmlformats.org/officeDocument/2006/relationships/font" Target="fonts/ProximaNova-italic.fntdata"/><Relationship Id="rId23" Type="http://schemas.openxmlformats.org/officeDocument/2006/relationships/font" Target="fonts/ProximaNov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ProximaNov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3b9ba863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3b9ba863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440fd008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440fd008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440fd0089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440fd0089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440fd0089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440fd0089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440fd0089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440fd0089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440fd0089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440fd0089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440fd0089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440fd0089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440fd0089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440fd0089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440fd0089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440fd0089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440fd0089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440fd0089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440fd0089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440fd0089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440fd0089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440fd0089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440fd0089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440fd0089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440fd0089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440fd0089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440fd0089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440fd0089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lgn="just">
              <a:lnSpc>
                <a:spcPct val="95000"/>
              </a:lnSpc>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SISTEMA DE </a:t>
            </a:r>
            <a:r>
              <a:rPr lang="es"/>
              <a:t>GESTIÓN</a:t>
            </a:r>
            <a:r>
              <a:rPr lang="es"/>
              <a:t> DE DESASTRES</a:t>
            </a:r>
            <a:endParaRPr/>
          </a:p>
        </p:txBody>
      </p:sp>
      <p:sp>
        <p:nvSpPr>
          <p:cNvPr id="60" name="Google Shape;60;p13"/>
          <p:cNvSpPr txBox="1"/>
          <p:nvPr>
            <p:ph idx="1" type="subTitle"/>
          </p:nvPr>
        </p:nvSpPr>
        <p:spPr>
          <a:xfrm>
            <a:off x="510450" y="3182325"/>
            <a:ext cx="8123100" cy="15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rPr>
              <a:t>Lawrence Ospina</a:t>
            </a:r>
            <a:endParaRPr sz="1300">
              <a:solidFill>
                <a:srgbClr val="FFFFFF"/>
              </a:solidFill>
            </a:endParaRPr>
          </a:p>
          <a:p>
            <a:pPr indent="0" lvl="0" marL="0" rtl="0" algn="l">
              <a:lnSpc>
                <a:spcPct val="80000"/>
              </a:lnSpc>
              <a:spcBef>
                <a:spcPts val="0"/>
              </a:spcBef>
              <a:spcAft>
                <a:spcPts val="0"/>
              </a:spcAft>
              <a:buNone/>
            </a:pPr>
            <a:r>
              <a:rPr lang="es" sz="1300">
                <a:solidFill>
                  <a:srgbClr val="FFFFFF"/>
                </a:solidFill>
              </a:rPr>
              <a:t>Santiago Aguirre</a:t>
            </a:r>
            <a:endParaRPr sz="1300">
              <a:solidFill>
                <a:srgbClr val="FFFFFF"/>
              </a:solidFill>
            </a:endParaRPr>
          </a:p>
          <a:p>
            <a:pPr indent="0" lvl="0" marL="0" rtl="0" algn="l">
              <a:lnSpc>
                <a:spcPct val="80000"/>
              </a:lnSpc>
              <a:spcBef>
                <a:spcPts val="0"/>
              </a:spcBef>
              <a:spcAft>
                <a:spcPts val="0"/>
              </a:spcAft>
              <a:buNone/>
            </a:pPr>
            <a:r>
              <a:rPr lang="es" sz="1300">
                <a:solidFill>
                  <a:srgbClr val="FFFFFF"/>
                </a:solidFill>
              </a:rPr>
              <a:t>Stefania Herrera</a:t>
            </a:r>
            <a:endParaRPr sz="1300">
              <a:solidFill>
                <a:srgbClr val="FFFFFF"/>
              </a:solidFill>
            </a:endParaRPr>
          </a:p>
          <a:p>
            <a:pPr indent="0" lvl="0" marL="0" rtl="0" algn="l">
              <a:lnSpc>
                <a:spcPct val="80000"/>
              </a:lnSpc>
              <a:spcBef>
                <a:spcPts val="0"/>
              </a:spcBef>
              <a:spcAft>
                <a:spcPts val="0"/>
              </a:spcAft>
              <a:buNone/>
            </a:pPr>
            <a:r>
              <a:t/>
            </a:r>
            <a:endParaRPr sz="1300">
              <a:solidFill>
                <a:srgbClr val="FFFFFF"/>
              </a:solidFill>
            </a:endParaRPr>
          </a:p>
          <a:p>
            <a:pPr indent="0" lvl="0" marL="0" rtl="0" algn="l">
              <a:lnSpc>
                <a:spcPct val="100000"/>
              </a:lnSpc>
              <a:spcBef>
                <a:spcPts val="0"/>
              </a:spcBef>
              <a:spcAft>
                <a:spcPts val="0"/>
              </a:spcAft>
              <a:buNone/>
            </a:pPr>
            <a:r>
              <a:rPr lang="es" sz="1300">
                <a:solidFill>
                  <a:srgbClr val="FFFFFF"/>
                </a:solidFill>
              </a:rPr>
              <a:t>Grupo 10: La Ilustre Cofradía de Tilines</a:t>
            </a:r>
            <a:endParaRPr sz="1300">
              <a:solidFill>
                <a:srgbClr val="FFFFFF"/>
              </a:solidFill>
            </a:endParaRPr>
          </a:p>
          <a:p>
            <a:pPr indent="0" lvl="0" marL="0" rtl="0" algn="l">
              <a:lnSpc>
                <a:spcPct val="100000"/>
              </a:lnSpc>
              <a:spcBef>
                <a:spcPts val="0"/>
              </a:spcBef>
              <a:spcAft>
                <a:spcPts val="0"/>
              </a:spcAft>
              <a:buNone/>
            </a:pPr>
            <a:r>
              <a:rPr lang="es" sz="1300">
                <a:solidFill>
                  <a:srgbClr val="FFFFFF"/>
                </a:solidFill>
              </a:rPr>
              <a:t>Alias:”Los Tilines”</a:t>
            </a:r>
            <a:endParaRPr sz="1300">
              <a:solidFill>
                <a:srgbClr val="FFFFFF"/>
              </a:solidFill>
            </a:endParaRPr>
          </a:p>
          <a:p>
            <a:pPr indent="0" lvl="0" marL="0" rtl="0" algn="l">
              <a:spcBef>
                <a:spcPts val="0"/>
              </a:spcBef>
              <a:spcAft>
                <a:spcPts val="0"/>
              </a:spcAft>
              <a:buNone/>
            </a:pPr>
            <a:r>
              <a:t/>
            </a:r>
            <a:endParaRPr sz="13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Descripción General</a:t>
            </a:r>
            <a:endParaRPr>
              <a:solidFill>
                <a:srgbClr val="FFFFFF"/>
              </a:solidFill>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lnSpc>
                <a:spcPct val="95000"/>
              </a:lnSpc>
              <a:spcBef>
                <a:spcPts val="1200"/>
              </a:spcBef>
              <a:spcAft>
                <a:spcPts val="0"/>
              </a:spcAft>
              <a:buSzPts val="688"/>
              <a:buNone/>
            </a:pPr>
            <a:r>
              <a:rPr lang="es" sz="1350">
                <a:solidFill>
                  <a:srgbClr val="FFFFFF"/>
                </a:solidFill>
              </a:rPr>
              <a:t>El proyecto consiste en desarrollar un sistema para gestionar la respuesta ante desastres naturales, modelando el flujo de recursos, personas y equipos entre distintas ubicaciones afectadas. El sistema debe permitir simular la evacuación de personas, la distribución de recursos, la asignación de equipos de rescate y la gestión de rutas de transporte entre zonas afectadas.</a:t>
            </a:r>
            <a:endParaRPr sz="1350">
              <a:solidFill>
                <a:srgbClr val="FFFFFF"/>
              </a:solidFill>
            </a:endParaRPr>
          </a:p>
          <a:p>
            <a:pPr indent="0" lvl="0" marL="0" rtl="0" algn="just">
              <a:lnSpc>
                <a:spcPct val="95000"/>
              </a:lnSpc>
              <a:spcBef>
                <a:spcPts val="1200"/>
              </a:spcBef>
              <a:spcAft>
                <a:spcPts val="0"/>
              </a:spcAft>
              <a:buSzPts val="688"/>
              <a:buNone/>
            </a:pPr>
            <a:r>
              <a:rPr lang="es" sz="1350">
                <a:solidFill>
                  <a:srgbClr val="FFFFFF"/>
                </a:solidFill>
              </a:rPr>
              <a:t>Las ubicaciones afectadas (como ciudades, refugios y centros de ayuda) serán representadas como nodos en un grafo dirigido. Las aristas del grafo representarán las rutas de transporte entre estas ubicaciones. El sistema debe optimizar la asignación de recursos y la programación de las rutas mediante el uso de algoritmos de caminos más cortos y de distribución eficiente de recursos</a:t>
            </a:r>
            <a:r>
              <a:rPr lang="es" sz="1350">
                <a:solidFill>
                  <a:srgbClr val="FFFFFF"/>
                </a:solidFill>
                <a:latin typeface="Times New Roman"/>
                <a:ea typeface="Times New Roman"/>
                <a:cs typeface="Times New Roman"/>
                <a:sym typeface="Times New Roman"/>
              </a:rPr>
              <a:t>.</a:t>
            </a:r>
            <a:endParaRPr sz="1350">
              <a:solidFill>
                <a:srgbClr val="FFFFFF"/>
              </a:solidFill>
              <a:latin typeface="Times New Roman"/>
              <a:ea typeface="Times New Roman"/>
              <a:cs typeface="Times New Roman"/>
              <a:sym typeface="Times New Roman"/>
            </a:endParaRPr>
          </a:p>
          <a:p>
            <a:pPr indent="0" lvl="0" marL="0" rtl="0" algn="just">
              <a:lnSpc>
                <a:spcPct val="95000"/>
              </a:lnSpc>
              <a:spcBef>
                <a:spcPts val="1200"/>
              </a:spcBef>
              <a:spcAft>
                <a:spcPts val="1200"/>
              </a:spcAft>
              <a:buSzPts val="688"/>
              <a:buNone/>
            </a:pPr>
            <a:r>
              <a:t/>
            </a:r>
            <a:endParaRPr sz="135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Características del sistema</a:t>
            </a:r>
            <a:endParaRPr>
              <a:solidFill>
                <a:srgbClr val="FFFFFF"/>
              </a:solidFill>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4325" lvl="0" marL="457200" rtl="0" algn="just">
              <a:lnSpc>
                <a:spcPct val="95000"/>
              </a:lnSpc>
              <a:spcBef>
                <a:spcPts val="1200"/>
              </a:spcBef>
              <a:spcAft>
                <a:spcPts val="0"/>
              </a:spcAft>
              <a:buClr>
                <a:srgbClr val="F3F3F3"/>
              </a:buClr>
              <a:buSzPts val="1350"/>
              <a:buFont typeface="Arial"/>
              <a:buChar char="●"/>
            </a:pPr>
            <a:r>
              <a:rPr lang="es" sz="1350">
                <a:solidFill>
                  <a:srgbClr val="FFFFFF"/>
                </a:solidFill>
              </a:rPr>
              <a:t>Registro y autenticación: Los administradores podrán acceder al sistema para gestionar los recursos y las rutas.</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Gestión de recursos: El sistema debe gestionar diferentes tipos de recursos (alimentos, medicinas, equipos de rescate, etc.) y su distribución a las zonas afectadas.</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Planificación de evacuaciones: El sistema debe ser capaz de gestionar y priorizar las evacuaciones de personas según el nivel de urgencia de cada zona.</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Asignación de equipos de rescate: Los equipos de rescate (médicos, bomberos, etc.) serán asignados a las zonas más afectadas en función de las rutas más cortas y los recursos disponibles.</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Simulación de rutas de transporte: El sistema debe poder simular rutas de transporte entre las zonas afectadas y calcular las rutas más eficientes usando algoritmos de caminos más cortos.</a:t>
            </a:r>
            <a:br>
              <a:rPr lang="es" sz="1350">
                <a:solidFill>
                  <a:srgbClr val="FFFFFF"/>
                </a:solidFill>
              </a:rPr>
            </a:br>
            <a:endParaRPr sz="1350">
              <a:solidFill>
                <a:srgbClr val="FFFFFF"/>
              </a:solidFill>
            </a:endParaRPr>
          </a:p>
          <a:p>
            <a:pPr indent="-314325" lvl="0" marL="457200" rtl="0" algn="just">
              <a:lnSpc>
                <a:spcPct val="95000"/>
              </a:lnSpc>
              <a:spcBef>
                <a:spcPts val="0"/>
              </a:spcBef>
              <a:spcAft>
                <a:spcPts val="0"/>
              </a:spcAft>
              <a:buClr>
                <a:srgbClr val="F3F3F3"/>
              </a:buClr>
              <a:buSzPts val="1350"/>
              <a:buFont typeface="Arial"/>
              <a:buChar char="●"/>
            </a:pPr>
            <a:r>
              <a:rPr lang="es" sz="1350">
                <a:solidFill>
                  <a:srgbClr val="FFFFFF"/>
                </a:solidFill>
              </a:rPr>
              <a:t>Visualización gráfica: El sistema debe permitir visualizar un mapa interactivo de las ubicaciones y las rutas disponibles, destacando las zonas con mayor necesidad de recursos y equipos de rescate.</a:t>
            </a:r>
            <a:br>
              <a:rPr lang="es" sz="1350">
                <a:solidFill>
                  <a:srgbClr val="FFFFFF"/>
                </a:solidFill>
              </a:rPr>
            </a:br>
            <a:endParaRPr sz="1350">
              <a:solidFill>
                <a:srgbClr val="F3F3F3"/>
              </a:solidFill>
            </a:endParaRPr>
          </a:p>
          <a:p>
            <a:pPr indent="0" lvl="0" marL="0" rtl="0" algn="just">
              <a:lnSpc>
                <a:spcPct val="75000"/>
              </a:lnSpc>
              <a:spcBef>
                <a:spcPts val="1200"/>
              </a:spcBef>
              <a:spcAft>
                <a:spcPts val="1200"/>
              </a:spcAft>
              <a:buSzPts val="430"/>
              <a:buNone/>
            </a:pPr>
            <a:r>
              <a:t/>
            </a:r>
            <a:endParaRPr sz="44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Roles del sistema</a:t>
            </a:r>
            <a:endParaRPr>
              <a:solidFill>
                <a:srgbClr val="FFFFFF"/>
              </a:solidFill>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just">
              <a:spcBef>
                <a:spcPts val="1200"/>
              </a:spcBef>
              <a:spcAft>
                <a:spcPts val="0"/>
              </a:spcAft>
              <a:buClr>
                <a:srgbClr val="FFFFFF"/>
              </a:buClr>
              <a:buSzPts val="1100"/>
              <a:buFont typeface="Arial"/>
              <a:buChar char="●"/>
            </a:pPr>
            <a:r>
              <a:rPr lang="es" sz="1350">
                <a:solidFill>
                  <a:srgbClr val="FFFFFF"/>
                </a:solidFill>
              </a:rPr>
              <a:t>Administrador:</a:t>
            </a:r>
            <a:br>
              <a:rPr lang="es" sz="1350">
                <a:solidFill>
                  <a:srgbClr val="FFFFFF"/>
                </a:solidFill>
              </a:rPr>
            </a:b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Gestionar los recursos disponibles (alimentos, medicinas, equipos de rescate, etc.).</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Asignar recursos a las zonas afectadas.</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Definir rutas de transporte entre las ubicaciones afectadas.</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Generar informes sobre el estado de las zonas y los recursos.</a:t>
            </a:r>
            <a:br>
              <a:rPr lang="es" sz="1350">
                <a:solidFill>
                  <a:srgbClr val="FFFFFF"/>
                </a:solidFill>
              </a:rPr>
            </a:br>
            <a:endParaRPr sz="1350">
              <a:solidFill>
                <a:srgbClr val="FFFFFF"/>
              </a:solidFill>
            </a:endParaRPr>
          </a:p>
          <a:p>
            <a:pPr indent="-298450" lvl="0" marL="457200" rtl="0" algn="just">
              <a:spcBef>
                <a:spcPts val="0"/>
              </a:spcBef>
              <a:spcAft>
                <a:spcPts val="0"/>
              </a:spcAft>
              <a:buClr>
                <a:srgbClr val="FFFFFF"/>
              </a:buClr>
              <a:buSzPts val="1100"/>
              <a:buFont typeface="Arial"/>
              <a:buChar char="●"/>
            </a:pPr>
            <a:r>
              <a:rPr lang="es" sz="1350">
                <a:solidFill>
                  <a:srgbClr val="FFFFFF"/>
                </a:solidFill>
              </a:rPr>
              <a:t>Operador de emergencia:</a:t>
            </a:r>
            <a:br>
              <a:rPr lang="es" sz="1350">
                <a:solidFill>
                  <a:srgbClr val="FFFFFF"/>
                </a:solidFill>
              </a:rPr>
            </a:b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Monitorear el estado de las ubicaciones afectadas y actualizar la situación en tiempo real.</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Priorizar evacuaciones según la urgencia.</a:t>
            </a:r>
            <a:endParaRPr sz="1350">
              <a:solidFill>
                <a:srgbClr val="FFFFFF"/>
              </a:solidFill>
            </a:endParaRPr>
          </a:p>
          <a:p>
            <a:pPr indent="-298450" lvl="1" marL="914400" rtl="0" algn="l">
              <a:spcBef>
                <a:spcPts val="0"/>
              </a:spcBef>
              <a:spcAft>
                <a:spcPts val="0"/>
              </a:spcAft>
              <a:buClr>
                <a:srgbClr val="FFFFFF"/>
              </a:buClr>
              <a:buSzPts val="1100"/>
              <a:buFont typeface="Arial"/>
              <a:buChar char="○"/>
            </a:pPr>
            <a:r>
              <a:rPr lang="es" sz="1350">
                <a:solidFill>
                  <a:srgbClr val="FFFFFF"/>
                </a:solidFill>
              </a:rPr>
              <a:t>Coordinar la distribución de recursos entre las zonas afectadas.</a:t>
            </a:r>
            <a:endParaRPr sz="1200">
              <a:solidFill>
                <a:srgbClr val="FFFFFF"/>
              </a:solidFill>
              <a:latin typeface="Times New Roman"/>
              <a:ea typeface="Times New Roman"/>
              <a:cs typeface="Times New Roman"/>
              <a:sym typeface="Times New Roman"/>
            </a:endParaRPr>
          </a:p>
          <a:p>
            <a:pPr indent="0" lvl="0" marL="457200" rtl="0" algn="just">
              <a:lnSpc>
                <a:spcPct val="95000"/>
              </a:lnSpc>
              <a:spcBef>
                <a:spcPts val="1200"/>
              </a:spcBef>
              <a:spcAft>
                <a:spcPts val="1200"/>
              </a:spcAft>
              <a:buNone/>
            </a:pPr>
            <a:r>
              <a:t/>
            </a:r>
            <a:endParaRPr sz="135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Diagrama de clases </a:t>
            </a:r>
            <a:r>
              <a:rPr lang="es" sz="1688">
                <a:solidFill>
                  <a:srgbClr val="FFFFFF"/>
                </a:solidFill>
              </a:rPr>
              <a:t>(para mejor visualización ver el pdf adjunto en el repositorio)</a:t>
            </a:r>
            <a:endParaRPr sz="1688">
              <a:solidFill>
                <a:srgbClr val="FFFFFF"/>
              </a:solidFill>
            </a:endParaRPr>
          </a:p>
        </p:txBody>
      </p:sp>
      <p:pic>
        <p:nvPicPr>
          <p:cNvPr id="84" name="Google Shape;84;p17"/>
          <p:cNvPicPr preferRelativeResize="0"/>
          <p:nvPr/>
        </p:nvPicPr>
        <p:blipFill>
          <a:blip r:embed="rId3">
            <a:alphaModFix/>
          </a:blip>
          <a:stretch>
            <a:fillRect/>
          </a:stretch>
        </p:blipFill>
        <p:spPr>
          <a:xfrm>
            <a:off x="892850" y="1113625"/>
            <a:ext cx="7174226" cy="3581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88" name="Shape 88"/>
        <p:cNvGrpSpPr/>
        <p:nvPr/>
      </p:nvGrpSpPr>
      <p:grpSpPr>
        <a:xfrm>
          <a:off x="0" y="0"/>
          <a:ext cx="0" cy="0"/>
          <a:chOff x="0" y="0"/>
          <a:chExt cx="0" cy="0"/>
        </a:xfrm>
      </p:grpSpPr>
      <p:sp>
        <p:nvSpPr>
          <p:cNvPr id="89" name="Google Shape;89;p18"/>
          <p:cNvSpPr txBox="1"/>
          <p:nvPr>
            <p:ph type="title"/>
          </p:nvPr>
        </p:nvSpPr>
        <p:spPr>
          <a:xfrm>
            <a:off x="219900" y="21205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sz="3466">
                <a:solidFill>
                  <a:srgbClr val="FFFFFF"/>
                </a:solidFill>
              </a:rPr>
              <a:t>Interfaces de usuario </a:t>
            </a:r>
            <a:r>
              <a:rPr lang="es">
                <a:solidFill>
                  <a:srgbClr val="FFFFFF"/>
                </a:solidFill>
              </a:rPr>
              <a:t> </a:t>
            </a:r>
            <a:endParaRPr sz="1688">
              <a:solidFill>
                <a:srgbClr val="FFFFFF"/>
              </a:solidFill>
            </a:endParaRPr>
          </a:p>
          <a:p>
            <a:pPr indent="0" lvl="0" marL="0" rtl="0" algn="l">
              <a:spcBef>
                <a:spcPts val="0"/>
              </a:spcBef>
              <a:spcAft>
                <a:spcPts val="0"/>
              </a:spcAft>
              <a:buNone/>
            </a:pPr>
            <a:r>
              <a:t/>
            </a:r>
            <a:endParaRPr sz="1688">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93" name="Shape 93"/>
        <p:cNvGrpSpPr/>
        <p:nvPr/>
      </p:nvGrpSpPr>
      <p:grpSpPr>
        <a:xfrm>
          <a:off x="0" y="0"/>
          <a:ext cx="0" cy="0"/>
          <a:chOff x="0" y="0"/>
          <a:chExt cx="0" cy="0"/>
        </a:xfrm>
      </p:grpSpPr>
      <p:sp>
        <p:nvSpPr>
          <p:cNvPr id="94" name="Google Shape;94;p19"/>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Login </a:t>
            </a:r>
            <a:endParaRPr>
              <a:solidFill>
                <a:srgbClr val="FFFFFF"/>
              </a:solidFill>
            </a:endParaRPr>
          </a:p>
        </p:txBody>
      </p:sp>
      <p:pic>
        <p:nvPicPr>
          <p:cNvPr id="95" name="Google Shape;95;p19"/>
          <p:cNvPicPr preferRelativeResize="0"/>
          <p:nvPr/>
        </p:nvPicPr>
        <p:blipFill>
          <a:blip r:embed="rId3">
            <a:alphaModFix/>
          </a:blip>
          <a:stretch>
            <a:fillRect/>
          </a:stretch>
        </p:blipFill>
        <p:spPr>
          <a:xfrm>
            <a:off x="383575" y="1126650"/>
            <a:ext cx="6337848" cy="3540749"/>
          </a:xfrm>
          <a:prstGeom prst="rect">
            <a:avLst/>
          </a:prstGeom>
          <a:noFill/>
          <a:ln>
            <a:noFill/>
          </a:ln>
        </p:spPr>
      </p:pic>
      <p:sp>
        <p:nvSpPr>
          <p:cNvPr id="96" name="Google Shape;96;p19"/>
          <p:cNvSpPr txBox="1"/>
          <p:nvPr/>
        </p:nvSpPr>
        <p:spPr>
          <a:xfrm>
            <a:off x="6874175" y="1112550"/>
            <a:ext cx="2120700" cy="35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Correspondiente al inicio de sesión, se debe ingresar el correo y contraseña del usuario, se validan las credenciales y dependiendo de si coinciden o no se muestra un mensaje de credenciales incorrectas o se accede al panel de control.</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Cuenta con opción de registro que redirige directamente a la respectiva GUI.</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00" name="Shape 100"/>
        <p:cNvGrpSpPr/>
        <p:nvPr/>
      </p:nvGrpSpPr>
      <p:grpSpPr>
        <a:xfrm>
          <a:off x="0" y="0"/>
          <a:ext cx="0" cy="0"/>
          <a:chOff x="0" y="0"/>
          <a:chExt cx="0" cy="0"/>
        </a:xfrm>
      </p:grpSpPr>
      <p:sp>
        <p:nvSpPr>
          <p:cNvPr id="101" name="Google Shape;101;p20"/>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Registro</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02" name="Google Shape;102;p20"/>
          <p:cNvPicPr preferRelativeResize="0"/>
          <p:nvPr/>
        </p:nvPicPr>
        <p:blipFill>
          <a:blip r:embed="rId3">
            <a:alphaModFix/>
          </a:blip>
          <a:stretch>
            <a:fillRect/>
          </a:stretch>
        </p:blipFill>
        <p:spPr>
          <a:xfrm>
            <a:off x="314225" y="1115450"/>
            <a:ext cx="6452126" cy="3706725"/>
          </a:xfrm>
          <a:prstGeom prst="rect">
            <a:avLst/>
          </a:prstGeom>
          <a:noFill/>
          <a:ln>
            <a:noFill/>
          </a:ln>
        </p:spPr>
      </p:pic>
      <p:sp>
        <p:nvSpPr>
          <p:cNvPr id="103" name="Google Shape;103;p20"/>
          <p:cNvSpPr txBox="1"/>
          <p:nvPr/>
        </p:nvSpPr>
        <p:spPr>
          <a:xfrm>
            <a:off x="6919100" y="1085500"/>
            <a:ext cx="2066700" cy="37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Para la creación de usuarios, se ingresa el nombre, correo y contraseña, finalmente se elige uno de los 2 roles y se hace el registro.</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07" name="Shape 107"/>
        <p:cNvGrpSpPr/>
        <p:nvPr/>
      </p:nvGrpSpPr>
      <p:grpSpPr>
        <a:xfrm>
          <a:off x="0" y="0"/>
          <a:ext cx="0" cy="0"/>
          <a:chOff x="0" y="0"/>
          <a:chExt cx="0" cy="0"/>
        </a:xfrm>
      </p:grpSpPr>
      <p:sp>
        <p:nvSpPr>
          <p:cNvPr id="108" name="Google Shape;108;p21"/>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Inicio y panel de control</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09" name="Google Shape;109;p21"/>
          <p:cNvPicPr preferRelativeResize="0"/>
          <p:nvPr/>
        </p:nvPicPr>
        <p:blipFill>
          <a:blip r:embed="rId3">
            <a:alphaModFix/>
          </a:blip>
          <a:stretch>
            <a:fillRect/>
          </a:stretch>
        </p:blipFill>
        <p:spPr>
          <a:xfrm>
            <a:off x="311700" y="1049275"/>
            <a:ext cx="8520600" cy="2216849"/>
          </a:xfrm>
          <a:prstGeom prst="rect">
            <a:avLst/>
          </a:prstGeom>
          <a:noFill/>
          <a:ln>
            <a:noFill/>
          </a:ln>
        </p:spPr>
      </p:pic>
      <p:sp>
        <p:nvSpPr>
          <p:cNvPr id="110" name="Google Shape;110;p21"/>
          <p:cNvSpPr txBox="1"/>
          <p:nvPr/>
        </p:nvSpPr>
        <p:spPr>
          <a:xfrm>
            <a:off x="323500" y="3529650"/>
            <a:ext cx="8462400" cy="115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Se muestran datos generales de las zonas, rutas, recursos disponibles y evacuaciones, </a:t>
            </a:r>
            <a:r>
              <a:rPr lang="es" sz="1300">
                <a:solidFill>
                  <a:srgbClr val="FFFFFF"/>
                </a:solidFill>
                <a:latin typeface="Proxima Nova"/>
                <a:ea typeface="Proxima Nova"/>
                <a:cs typeface="Proxima Nova"/>
                <a:sym typeface="Proxima Nova"/>
              </a:rPr>
              <a:t>así</a:t>
            </a:r>
            <a:r>
              <a:rPr lang="es" sz="1300">
                <a:solidFill>
                  <a:srgbClr val="FFFFFF"/>
                </a:solidFill>
                <a:latin typeface="Proxima Nova"/>
                <a:ea typeface="Proxima Nova"/>
                <a:cs typeface="Proxima Nova"/>
                <a:sym typeface="Proxima Nova"/>
              </a:rPr>
              <a:t> mismo se cuenta con un panel de control para la gestión de todo el sistem</a:t>
            </a:r>
            <a:r>
              <a:rPr lang="es" sz="1300">
                <a:solidFill>
                  <a:srgbClr val="FFFFFF"/>
                </a:solidFill>
                <a:latin typeface="Proxima Nova"/>
                <a:ea typeface="Proxima Nova"/>
                <a:cs typeface="Proxima Nova"/>
                <a:sym typeface="Proxima Nova"/>
              </a:rPr>
              <a:t>a.</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14" name="Shape 114"/>
        <p:cNvGrpSpPr/>
        <p:nvPr/>
      </p:nvGrpSpPr>
      <p:grpSpPr>
        <a:xfrm>
          <a:off x="0" y="0"/>
          <a:ext cx="0" cy="0"/>
          <a:chOff x="0" y="0"/>
          <a:chExt cx="0" cy="0"/>
        </a:xfrm>
      </p:grpSpPr>
      <p:sp>
        <p:nvSpPr>
          <p:cNvPr id="115" name="Google Shape;115;p22"/>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Panel de Administración (gestión de recursos)</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16" name="Google Shape;116;p22" title="Captura de pantalla 2025-11-15 180704.png"/>
          <p:cNvPicPr preferRelativeResize="0"/>
          <p:nvPr/>
        </p:nvPicPr>
        <p:blipFill rotWithShape="1">
          <a:blip r:embed="rId3">
            <a:alphaModFix/>
          </a:blip>
          <a:srcRect b="74661" l="0" r="0" t="0"/>
          <a:stretch/>
        </p:blipFill>
        <p:spPr>
          <a:xfrm>
            <a:off x="394425" y="960825"/>
            <a:ext cx="6515701" cy="981275"/>
          </a:xfrm>
          <a:prstGeom prst="rect">
            <a:avLst/>
          </a:prstGeom>
          <a:noFill/>
          <a:ln>
            <a:noFill/>
          </a:ln>
        </p:spPr>
      </p:pic>
      <p:pic>
        <p:nvPicPr>
          <p:cNvPr id="117" name="Google Shape;117;p22"/>
          <p:cNvPicPr preferRelativeResize="0"/>
          <p:nvPr/>
        </p:nvPicPr>
        <p:blipFill>
          <a:blip r:embed="rId4">
            <a:alphaModFix/>
          </a:blip>
          <a:stretch>
            <a:fillRect/>
          </a:stretch>
        </p:blipFill>
        <p:spPr>
          <a:xfrm>
            <a:off x="394425" y="2065625"/>
            <a:ext cx="6515697" cy="2896599"/>
          </a:xfrm>
          <a:prstGeom prst="rect">
            <a:avLst/>
          </a:prstGeom>
          <a:noFill/>
          <a:ln>
            <a:noFill/>
          </a:ln>
        </p:spPr>
      </p:pic>
      <p:sp>
        <p:nvSpPr>
          <p:cNvPr id="118" name="Google Shape;118;p22"/>
          <p:cNvSpPr txBox="1"/>
          <p:nvPr/>
        </p:nvSpPr>
        <p:spPr>
          <a:xfrm>
            <a:off x="7035925" y="960825"/>
            <a:ext cx="1887000" cy="39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Dentro de la pestaña de recursos se </a:t>
            </a:r>
            <a:r>
              <a:rPr lang="es" sz="1300">
                <a:solidFill>
                  <a:srgbClr val="FFFFFF"/>
                </a:solidFill>
                <a:latin typeface="Proxima Nova"/>
                <a:ea typeface="Proxima Nova"/>
                <a:cs typeface="Proxima Nova"/>
                <a:sym typeface="Proxima Nova"/>
              </a:rPr>
              <a:t>encuentra</a:t>
            </a:r>
            <a:r>
              <a:rPr lang="es" sz="1300">
                <a:solidFill>
                  <a:srgbClr val="FFFFFF"/>
                </a:solidFill>
                <a:latin typeface="Proxima Nova"/>
                <a:ea typeface="Proxima Nova"/>
                <a:cs typeface="Proxima Nova"/>
                <a:sym typeface="Proxima Nova"/>
              </a:rPr>
              <a:t> la información listada de los recursos por zona y otra lista con la información de los equipos de rescate.</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Se pueden asignar recursos y equipos de rescate.</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22" name="Shape 122"/>
        <p:cNvGrpSpPr/>
        <p:nvPr/>
      </p:nvGrpSpPr>
      <p:grpSpPr>
        <a:xfrm>
          <a:off x="0" y="0"/>
          <a:ext cx="0" cy="0"/>
          <a:chOff x="0" y="0"/>
          <a:chExt cx="0" cy="0"/>
        </a:xfrm>
      </p:grpSpPr>
      <p:sp>
        <p:nvSpPr>
          <p:cNvPr id="123" name="Google Shape;123;p23"/>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Panel de Administración (gestión de equipos de rescate)</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24" name="Google Shape;124;p23" title="Captura de pantalla 2025-11-15 180704.png"/>
          <p:cNvPicPr preferRelativeResize="0"/>
          <p:nvPr/>
        </p:nvPicPr>
        <p:blipFill rotWithShape="1">
          <a:blip r:embed="rId3">
            <a:alphaModFix/>
          </a:blip>
          <a:srcRect b="74661" l="0" r="0" t="0"/>
          <a:stretch/>
        </p:blipFill>
        <p:spPr>
          <a:xfrm>
            <a:off x="394425" y="960825"/>
            <a:ext cx="8346652" cy="981275"/>
          </a:xfrm>
          <a:prstGeom prst="rect">
            <a:avLst/>
          </a:prstGeom>
          <a:noFill/>
          <a:ln>
            <a:noFill/>
          </a:ln>
        </p:spPr>
      </p:pic>
      <p:pic>
        <p:nvPicPr>
          <p:cNvPr id="125" name="Google Shape;125;p23"/>
          <p:cNvPicPr preferRelativeResize="0"/>
          <p:nvPr/>
        </p:nvPicPr>
        <p:blipFill>
          <a:blip r:embed="rId4">
            <a:alphaModFix/>
          </a:blip>
          <a:stretch>
            <a:fillRect/>
          </a:stretch>
        </p:blipFill>
        <p:spPr>
          <a:xfrm>
            <a:off x="394425" y="2066700"/>
            <a:ext cx="8346652" cy="2813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29" name="Shape 129"/>
        <p:cNvGrpSpPr/>
        <p:nvPr/>
      </p:nvGrpSpPr>
      <p:grpSpPr>
        <a:xfrm>
          <a:off x="0" y="0"/>
          <a:ext cx="0" cy="0"/>
          <a:chOff x="0" y="0"/>
          <a:chExt cx="0" cy="0"/>
        </a:xfrm>
      </p:grpSpPr>
      <p:sp>
        <p:nvSpPr>
          <p:cNvPr id="130" name="Google Shape;130;p24"/>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Panel de rutas (para gestión de rutas y </a:t>
            </a:r>
            <a:r>
              <a:rPr lang="es">
                <a:solidFill>
                  <a:srgbClr val="FFFFFF"/>
                </a:solidFill>
              </a:rPr>
              <a:t>evacuaciones</a:t>
            </a:r>
            <a:r>
              <a:rPr lang="es">
                <a:solidFill>
                  <a:srgbClr val="FFFFFF"/>
                </a:solidFill>
              </a:rPr>
              <a:t>) </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31" name="Google Shape;131;p24"/>
          <p:cNvPicPr preferRelativeResize="0"/>
          <p:nvPr/>
        </p:nvPicPr>
        <p:blipFill>
          <a:blip r:embed="rId3">
            <a:alphaModFix/>
          </a:blip>
          <a:stretch>
            <a:fillRect/>
          </a:stretch>
        </p:blipFill>
        <p:spPr>
          <a:xfrm>
            <a:off x="265225" y="1832275"/>
            <a:ext cx="5782249" cy="2956350"/>
          </a:xfrm>
          <a:prstGeom prst="rect">
            <a:avLst/>
          </a:prstGeom>
          <a:noFill/>
          <a:ln>
            <a:noFill/>
          </a:ln>
        </p:spPr>
      </p:pic>
      <p:pic>
        <p:nvPicPr>
          <p:cNvPr id="132" name="Google Shape;132;p24"/>
          <p:cNvPicPr preferRelativeResize="0"/>
          <p:nvPr/>
        </p:nvPicPr>
        <p:blipFill>
          <a:blip r:embed="rId4">
            <a:alphaModFix/>
          </a:blip>
          <a:stretch>
            <a:fillRect/>
          </a:stretch>
        </p:blipFill>
        <p:spPr>
          <a:xfrm>
            <a:off x="265225" y="1023750"/>
            <a:ext cx="5782248" cy="724950"/>
          </a:xfrm>
          <a:prstGeom prst="rect">
            <a:avLst/>
          </a:prstGeom>
          <a:noFill/>
          <a:ln>
            <a:noFill/>
          </a:ln>
        </p:spPr>
      </p:pic>
      <p:sp>
        <p:nvSpPr>
          <p:cNvPr id="133" name="Google Shape;133;p24"/>
          <p:cNvSpPr txBox="1"/>
          <p:nvPr/>
        </p:nvSpPr>
        <p:spPr>
          <a:xfrm>
            <a:off x="6200225" y="1004625"/>
            <a:ext cx="2722800" cy="37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Para la gestión de rutas se muestra en la pestaña de Rutas un listado con los datos de cada ruta (id, origen, destino, distancia, estado) los cuales hacen parte también de la información del digrafo.</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37" name="Shape 137"/>
        <p:cNvGrpSpPr/>
        <p:nvPr/>
      </p:nvGrpSpPr>
      <p:grpSpPr>
        <a:xfrm>
          <a:off x="0" y="0"/>
          <a:ext cx="0" cy="0"/>
          <a:chOff x="0" y="0"/>
          <a:chExt cx="0" cy="0"/>
        </a:xfrm>
      </p:grpSpPr>
      <p:sp>
        <p:nvSpPr>
          <p:cNvPr id="138" name="Google Shape;138;p25"/>
          <p:cNvSpPr txBox="1"/>
          <p:nvPr>
            <p:ph type="title"/>
          </p:nvPr>
        </p:nvSpPr>
        <p:spPr>
          <a:xfrm>
            <a:off x="265225" y="340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Panel de rutas (para gestión de rutas y </a:t>
            </a:r>
            <a:r>
              <a:rPr lang="es">
                <a:solidFill>
                  <a:srgbClr val="FFFFFF"/>
                </a:solidFill>
              </a:rPr>
              <a:t>evacuaciones</a:t>
            </a:r>
            <a:r>
              <a:rPr lang="es">
                <a:solidFill>
                  <a:srgbClr val="FFFFFF"/>
                </a:solidFill>
              </a:rPr>
              <a:t>) </a:t>
            </a:r>
            <a:endParaRPr>
              <a:solidFill>
                <a:srgbClr val="FFFFFF"/>
              </a:solidFill>
            </a:endParaRPr>
          </a:p>
          <a:p>
            <a:pPr indent="0" lvl="0" marL="0" rtl="0" algn="l">
              <a:spcBef>
                <a:spcPts val="0"/>
              </a:spcBef>
              <a:spcAft>
                <a:spcPts val="0"/>
              </a:spcAft>
              <a:buNone/>
            </a:pPr>
            <a:r>
              <a:rPr lang="es">
                <a:solidFill>
                  <a:srgbClr val="FFFFFF"/>
                </a:solidFill>
              </a:rPr>
              <a:t> </a:t>
            </a:r>
            <a:endParaRPr>
              <a:solidFill>
                <a:srgbClr val="FFFFFF"/>
              </a:solidFill>
            </a:endParaRPr>
          </a:p>
        </p:txBody>
      </p:sp>
      <p:pic>
        <p:nvPicPr>
          <p:cNvPr id="139" name="Google Shape;139;p25"/>
          <p:cNvPicPr preferRelativeResize="0"/>
          <p:nvPr/>
        </p:nvPicPr>
        <p:blipFill>
          <a:blip r:embed="rId3">
            <a:alphaModFix/>
          </a:blip>
          <a:stretch>
            <a:fillRect/>
          </a:stretch>
        </p:blipFill>
        <p:spPr>
          <a:xfrm>
            <a:off x="339275" y="1036925"/>
            <a:ext cx="5744799" cy="3637375"/>
          </a:xfrm>
          <a:prstGeom prst="rect">
            <a:avLst/>
          </a:prstGeom>
          <a:noFill/>
          <a:ln>
            <a:noFill/>
          </a:ln>
        </p:spPr>
      </p:pic>
      <p:sp>
        <p:nvSpPr>
          <p:cNvPr id="140" name="Google Shape;140;p25"/>
          <p:cNvSpPr txBox="1"/>
          <p:nvPr/>
        </p:nvSpPr>
        <p:spPr>
          <a:xfrm>
            <a:off x="6263125" y="1085500"/>
            <a:ext cx="2722800" cy="35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Para la gestión de evacuaciones, se muestra un listado en la pestaña de Evacuaciones con toda la información de cada una, y se organizan por medio de una cola de prioridad.</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44" name="Shape 144"/>
        <p:cNvGrpSpPr/>
        <p:nvPr/>
      </p:nvGrpSpPr>
      <p:grpSpPr>
        <a:xfrm>
          <a:off x="0" y="0"/>
          <a:ext cx="0" cy="0"/>
          <a:chOff x="0" y="0"/>
          <a:chExt cx="0" cy="0"/>
        </a:xfrm>
      </p:grpSpPr>
      <p:sp>
        <p:nvSpPr>
          <p:cNvPr id="145" name="Google Shape;145;p26"/>
          <p:cNvSpPr txBox="1"/>
          <p:nvPr>
            <p:ph type="title"/>
          </p:nvPr>
        </p:nvSpPr>
        <p:spPr>
          <a:xfrm>
            <a:off x="265225" y="257675"/>
            <a:ext cx="8520600" cy="55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Estadísticas </a:t>
            </a:r>
            <a:r>
              <a:rPr lang="es">
                <a:solidFill>
                  <a:schemeClr val="lt1"/>
                </a:solidFill>
              </a:rPr>
              <a:t>(gráficas)</a:t>
            </a:r>
            <a:endParaRPr>
              <a:solidFill>
                <a:srgbClr val="FFFFFF"/>
              </a:solidFill>
            </a:endParaRPr>
          </a:p>
        </p:txBody>
      </p:sp>
      <p:pic>
        <p:nvPicPr>
          <p:cNvPr id="146" name="Google Shape;146;p26"/>
          <p:cNvPicPr preferRelativeResize="0"/>
          <p:nvPr/>
        </p:nvPicPr>
        <p:blipFill>
          <a:blip r:embed="rId3">
            <a:alphaModFix/>
          </a:blip>
          <a:stretch>
            <a:fillRect/>
          </a:stretch>
        </p:blipFill>
        <p:spPr>
          <a:xfrm>
            <a:off x="265225" y="830375"/>
            <a:ext cx="5890175" cy="985775"/>
          </a:xfrm>
          <a:prstGeom prst="rect">
            <a:avLst/>
          </a:prstGeom>
          <a:noFill/>
          <a:ln>
            <a:noFill/>
          </a:ln>
        </p:spPr>
      </p:pic>
      <p:pic>
        <p:nvPicPr>
          <p:cNvPr id="147" name="Google Shape;147;p26"/>
          <p:cNvPicPr preferRelativeResize="0"/>
          <p:nvPr/>
        </p:nvPicPr>
        <p:blipFill>
          <a:blip r:embed="rId4">
            <a:alphaModFix/>
          </a:blip>
          <a:stretch>
            <a:fillRect/>
          </a:stretch>
        </p:blipFill>
        <p:spPr>
          <a:xfrm>
            <a:off x="265225" y="1965500"/>
            <a:ext cx="5890176" cy="2820475"/>
          </a:xfrm>
          <a:prstGeom prst="rect">
            <a:avLst/>
          </a:prstGeom>
          <a:noFill/>
          <a:ln>
            <a:noFill/>
          </a:ln>
        </p:spPr>
      </p:pic>
      <p:sp>
        <p:nvSpPr>
          <p:cNvPr id="148" name="Google Shape;148;p26"/>
          <p:cNvSpPr txBox="1"/>
          <p:nvPr/>
        </p:nvSpPr>
        <p:spPr>
          <a:xfrm>
            <a:off x="6265950" y="808700"/>
            <a:ext cx="2698800" cy="39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Dentro de la pestaña de Dashboard, se muestran dos gráficas estadísticas que muestran la cantidad de recursos por tipo y la cantidad de evacuaciones por prioridad respectivamente.</a:t>
            </a:r>
            <a:endParaRPr sz="1300">
              <a:solidFill>
                <a:srgbClr val="FFFFFF"/>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52" name="Shape 152"/>
        <p:cNvGrpSpPr/>
        <p:nvPr/>
      </p:nvGrpSpPr>
      <p:grpSpPr>
        <a:xfrm>
          <a:off x="0" y="0"/>
          <a:ext cx="0" cy="0"/>
          <a:chOff x="0" y="0"/>
          <a:chExt cx="0" cy="0"/>
        </a:xfrm>
      </p:grpSpPr>
      <p:sp>
        <p:nvSpPr>
          <p:cNvPr id="153" name="Google Shape;153;p27"/>
          <p:cNvSpPr txBox="1"/>
          <p:nvPr>
            <p:ph type="title"/>
          </p:nvPr>
        </p:nvSpPr>
        <p:spPr>
          <a:xfrm>
            <a:off x="265225" y="25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Estadísticas (reportes)  </a:t>
            </a:r>
            <a:endParaRPr>
              <a:solidFill>
                <a:srgbClr val="FFFFFF"/>
              </a:solidFill>
            </a:endParaRPr>
          </a:p>
        </p:txBody>
      </p:sp>
      <p:pic>
        <p:nvPicPr>
          <p:cNvPr id="154" name="Google Shape;154;p27"/>
          <p:cNvPicPr preferRelativeResize="0"/>
          <p:nvPr/>
        </p:nvPicPr>
        <p:blipFill rotWithShape="1">
          <a:blip r:embed="rId3">
            <a:alphaModFix/>
          </a:blip>
          <a:srcRect b="53846" l="0" r="0" t="0"/>
          <a:stretch/>
        </p:blipFill>
        <p:spPr>
          <a:xfrm>
            <a:off x="356150" y="830375"/>
            <a:ext cx="8429673" cy="454975"/>
          </a:xfrm>
          <a:prstGeom prst="rect">
            <a:avLst/>
          </a:prstGeom>
          <a:noFill/>
          <a:ln>
            <a:noFill/>
          </a:ln>
        </p:spPr>
      </p:pic>
      <p:sp>
        <p:nvSpPr>
          <p:cNvPr id="155" name="Google Shape;155;p27"/>
          <p:cNvSpPr/>
          <p:nvPr/>
        </p:nvSpPr>
        <p:spPr>
          <a:xfrm>
            <a:off x="5988325" y="871350"/>
            <a:ext cx="1010400" cy="414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56" name="Google Shape;156;p27"/>
          <p:cNvPicPr preferRelativeResize="0"/>
          <p:nvPr/>
        </p:nvPicPr>
        <p:blipFill>
          <a:blip r:embed="rId4">
            <a:alphaModFix/>
          </a:blip>
          <a:stretch>
            <a:fillRect/>
          </a:stretch>
        </p:blipFill>
        <p:spPr>
          <a:xfrm>
            <a:off x="356150" y="1621725"/>
            <a:ext cx="2624453" cy="3200400"/>
          </a:xfrm>
          <a:prstGeom prst="rect">
            <a:avLst/>
          </a:prstGeom>
          <a:noFill/>
          <a:ln>
            <a:noFill/>
          </a:ln>
        </p:spPr>
      </p:pic>
      <p:pic>
        <p:nvPicPr>
          <p:cNvPr id="157" name="Google Shape;157;p27"/>
          <p:cNvPicPr preferRelativeResize="0"/>
          <p:nvPr/>
        </p:nvPicPr>
        <p:blipFill>
          <a:blip r:embed="rId5">
            <a:alphaModFix/>
          </a:blip>
          <a:stretch>
            <a:fillRect/>
          </a:stretch>
        </p:blipFill>
        <p:spPr>
          <a:xfrm>
            <a:off x="3155650" y="1621725"/>
            <a:ext cx="2645164" cy="3200399"/>
          </a:xfrm>
          <a:prstGeom prst="rect">
            <a:avLst/>
          </a:prstGeom>
          <a:noFill/>
          <a:ln>
            <a:noFill/>
          </a:ln>
        </p:spPr>
      </p:pic>
      <p:sp>
        <p:nvSpPr>
          <p:cNvPr id="158" name="Google Shape;158;p27"/>
          <p:cNvSpPr txBox="1"/>
          <p:nvPr/>
        </p:nvSpPr>
        <p:spPr>
          <a:xfrm>
            <a:off x="6079425" y="1716150"/>
            <a:ext cx="2706300" cy="29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rgbClr val="FFFFFF"/>
                </a:solidFill>
                <a:latin typeface="Proxima Nova"/>
                <a:ea typeface="Proxima Nova"/>
                <a:cs typeface="Proxima Nova"/>
                <a:sym typeface="Proxima Nova"/>
              </a:rPr>
              <a:t>Al presionar el botón del </a:t>
            </a:r>
            <a:r>
              <a:rPr lang="es" sz="1700">
                <a:solidFill>
                  <a:srgbClr val="FFFFFF"/>
                </a:solidFill>
                <a:latin typeface="Proxima Nova"/>
                <a:ea typeface="Proxima Nova"/>
                <a:cs typeface="Proxima Nova"/>
                <a:sym typeface="Proxima Nova"/>
              </a:rPr>
              <a:t>rectángulo</a:t>
            </a:r>
            <a:r>
              <a:rPr lang="es" sz="1700">
                <a:solidFill>
                  <a:srgbClr val="FFFFFF"/>
                </a:solidFill>
                <a:latin typeface="Proxima Nova"/>
                <a:ea typeface="Proxima Nova"/>
                <a:cs typeface="Proxima Nova"/>
                <a:sym typeface="Proxima Nova"/>
              </a:rPr>
              <a:t> rojo, se genera un reporte en pdf con los detalles de las </a:t>
            </a:r>
            <a:r>
              <a:rPr lang="es" sz="1700">
                <a:solidFill>
                  <a:srgbClr val="FFFFFF"/>
                </a:solidFill>
                <a:latin typeface="Proxima Nova"/>
                <a:ea typeface="Proxima Nova"/>
                <a:cs typeface="Proxima Nova"/>
                <a:sym typeface="Proxima Nova"/>
              </a:rPr>
              <a:t>estadísticas</a:t>
            </a:r>
            <a:r>
              <a:rPr lang="es" sz="1700">
                <a:solidFill>
                  <a:srgbClr val="FFFFFF"/>
                </a:solidFill>
                <a:latin typeface="Proxima Nova"/>
                <a:ea typeface="Proxima Nova"/>
                <a:cs typeface="Proxima Nova"/>
                <a:sym typeface="Proxima Nova"/>
              </a:rPr>
              <a:t> e información de evacuaciones.</a:t>
            </a:r>
            <a:endParaRPr sz="17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7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700">
                <a:solidFill>
                  <a:srgbClr val="FFFFFF"/>
                </a:solidFill>
                <a:latin typeface="Proxima Nova"/>
                <a:ea typeface="Proxima Nova"/>
                <a:cs typeface="Proxima Nova"/>
                <a:sym typeface="Proxima Nova"/>
              </a:rPr>
              <a:t>Formato del reporte generado (en archivo pdf)</a:t>
            </a:r>
            <a:endParaRPr sz="1700">
              <a:solidFill>
                <a:srgbClr val="FFFFFF"/>
              </a:solidFill>
              <a:latin typeface="Proxima Nova"/>
              <a:ea typeface="Proxima Nova"/>
              <a:cs typeface="Proxima Nova"/>
              <a:sym typeface="Proxima Nova"/>
            </a:endParaRPr>
          </a:p>
        </p:txBody>
      </p:sp>
      <p:cxnSp>
        <p:nvCxnSpPr>
          <p:cNvPr id="159" name="Google Shape;159;p27"/>
          <p:cNvCxnSpPr/>
          <p:nvPr/>
        </p:nvCxnSpPr>
        <p:spPr>
          <a:xfrm flipH="1" rot="10800000">
            <a:off x="5955525" y="3821500"/>
            <a:ext cx="202200" cy="115500"/>
          </a:xfrm>
          <a:prstGeom prst="straightConnector1">
            <a:avLst/>
          </a:prstGeom>
          <a:noFill/>
          <a:ln cap="flat" cmpd="sng" w="9525">
            <a:solidFill>
              <a:schemeClr val="dk2"/>
            </a:solidFill>
            <a:prstDash val="solid"/>
            <a:round/>
            <a:headEnd len="med" w="med" type="none"/>
            <a:tailEnd len="med" w="med" type="none"/>
          </a:ln>
        </p:spPr>
      </p:cxnSp>
      <p:sp>
        <p:nvSpPr>
          <p:cNvPr id="160" name="Google Shape;160;p27"/>
          <p:cNvSpPr/>
          <p:nvPr/>
        </p:nvSpPr>
        <p:spPr>
          <a:xfrm>
            <a:off x="265225" y="1522075"/>
            <a:ext cx="5671200" cy="3434700"/>
          </a:xfrm>
          <a:prstGeom prst="roundRect">
            <a:avLst>
              <a:gd fmla="val 8859" name="adj"/>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Proxima Nova"/>
              <a:ea typeface="Proxima Nova"/>
              <a:cs typeface="Proxima Nova"/>
              <a:sym typeface="Proxima Nova"/>
            </a:endParaRPr>
          </a:p>
        </p:txBody>
      </p:sp>
      <p:sp>
        <p:nvSpPr>
          <p:cNvPr id="161" name="Google Shape;161;p27"/>
          <p:cNvSpPr/>
          <p:nvPr/>
        </p:nvSpPr>
        <p:spPr>
          <a:xfrm>
            <a:off x="6157725" y="3508750"/>
            <a:ext cx="2461500" cy="741000"/>
          </a:xfrm>
          <a:prstGeom prst="roundRect">
            <a:avLst>
              <a:gd fmla="val 8859" name="adj"/>
            </a:avLst>
          </a:prstGeom>
          <a:no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latin typeface="Proxima Nova"/>
              <a:ea typeface="Proxima Nova"/>
              <a:cs typeface="Proxima Nova"/>
              <a:sym typeface="Proxima Nova"/>
            </a:endParaRPr>
          </a:p>
        </p:txBody>
      </p:sp>
      <p:cxnSp>
        <p:nvCxnSpPr>
          <p:cNvPr id="162" name="Google Shape;162;p27"/>
          <p:cNvCxnSpPr>
            <a:stCxn id="155" idx="2"/>
          </p:cNvCxnSpPr>
          <p:nvPr/>
        </p:nvCxnSpPr>
        <p:spPr>
          <a:xfrm>
            <a:off x="6493525" y="1285350"/>
            <a:ext cx="900" cy="5157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D29AA"/>
            </a:gs>
            <a:gs pos="45000">
              <a:srgbClr val="361E74"/>
            </a:gs>
            <a:gs pos="100000">
              <a:srgbClr val="1E123D"/>
            </a:gs>
          </a:gsLst>
          <a:path path="circle">
            <a:fillToRect b="50%" l="50%" r="50%" t="50%"/>
          </a:path>
          <a:tileRect/>
        </a:gradFill>
      </p:bgPr>
    </p:bg>
    <p:spTree>
      <p:nvGrpSpPr>
        <p:cNvPr id="166" name="Shape 166"/>
        <p:cNvGrpSpPr/>
        <p:nvPr/>
      </p:nvGrpSpPr>
      <p:grpSpPr>
        <a:xfrm>
          <a:off x="0" y="0"/>
          <a:ext cx="0" cy="0"/>
          <a:chOff x="0" y="0"/>
          <a:chExt cx="0" cy="0"/>
        </a:xfrm>
      </p:grpSpPr>
      <p:sp>
        <p:nvSpPr>
          <p:cNvPr id="167" name="Google Shape;167;p28"/>
          <p:cNvSpPr txBox="1"/>
          <p:nvPr>
            <p:ph type="title"/>
          </p:nvPr>
        </p:nvSpPr>
        <p:spPr>
          <a:xfrm>
            <a:off x="265225" y="257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solidFill>
                  <a:srgbClr val="FFFFFF"/>
                </a:solidFill>
              </a:rPr>
              <a:t>Mapa interactivo (digrafo)</a:t>
            </a:r>
            <a:r>
              <a:rPr lang="es">
                <a:solidFill>
                  <a:srgbClr val="FFFFFF"/>
                </a:solidFill>
              </a:rPr>
              <a:t> </a:t>
            </a:r>
            <a:endParaRPr>
              <a:solidFill>
                <a:srgbClr val="FFFFFF"/>
              </a:solidFill>
            </a:endParaRPr>
          </a:p>
        </p:txBody>
      </p:sp>
      <p:pic>
        <p:nvPicPr>
          <p:cNvPr id="168" name="Google Shape;168;p28"/>
          <p:cNvPicPr preferRelativeResize="0"/>
          <p:nvPr/>
        </p:nvPicPr>
        <p:blipFill>
          <a:blip r:embed="rId3">
            <a:alphaModFix/>
          </a:blip>
          <a:stretch>
            <a:fillRect/>
          </a:stretch>
        </p:blipFill>
        <p:spPr>
          <a:xfrm>
            <a:off x="356150" y="830375"/>
            <a:ext cx="6496298" cy="985775"/>
          </a:xfrm>
          <a:prstGeom prst="rect">
            <a:avLst/>
          </a:prstGeom>
          <a:noFill/>
          <a:ln>
            <a:noFill/>
          </a:ln>
        </p:spPr>
      </p:pic>
      <p:pic>
        <p:nvPicPr>
          <p:cNvPr id="169" name="Google Shape;169;p28" title="Captura de pantalla 2025-11-15 182837.png"/>
          <p:cNvPicPr preferRelativeResize="0"/>
          <p:nvPr/>
        </p:nvPicPr>
        <p:blipFill>
          <a:blip r:embed="rId4">
            <a:alphaModFix/>
          </a:blip>
          <a:stretch>
            <a:fillRect/>
          </a:stretch>
        </p:blipFill>
        <p:spPr>
          <a:xfrm>
            <a:off x="356150" y="1968550"/>
            <a:ext cx="6496301" cy="3022551"/>
          </a:xfrm>
          <a:prstGeom prst="rect">
            <a:avLst/>
          </a:prstGeom>
          <a:noFill/>
          <a:ln>
            <a:noFill/>
          </a:ln>
        </p:spPr>
      </p:pic>
      <p:sp>
        <p:nvSpPr>
          <p:cNvPr id="170" name="Google Shape;170;p28"/>
          <p:cNvSpPr txBox="1"/>
          <p:nvPr/>
        </p:nvSpPr>
        <p:spPr>
          <a:xfrm>
            <a:off x="6982000" y="797150"/>
            <a:ext cx="2016000" cy="41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En el dashboard se muestra un mapa del mundo</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donde se </a:t>
            </a:r>
            <a:r>
              <a:rPr lang="es" sz="1300">
                <a:solidFill>
                  <a:srgbClr val="FFFFFF"/>
                </a:solidFill>
                <a:latin typeface="Proxima Nova"/>
                <a:ea typeface="Proxima Nova"/>
                <a:cs typeface="Proxima Nova"/>
                <a:sym typeface="Proxima Nova"/>
              </a:rPr>
              <a:t>encuentran</a:t>
            </a:r>
            <a:r>
              <a:rPr lang="es" sz="1300">
                <a:solidFill>
                  <a:srgbClr val="FFFFFF"/>
                </a:solidFill>
                <a:latin typeface="Proxima Nova"/>
                <a:ea typeface="Proxima Nova"/>
                <a:cs typeface="Proxima Nova"/>
                <a:sym typeface="Proxima Nova"/>
              </a:rPr>
              <a:t> ubicadas las zonas afectadas  y se conectan por medio de direcciones verdes, formando un digrafo.</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300">
                <a:solidFill>
                  <a:srgbClr val="FFFFFF"/>
                </a:solidFill>
                <a:latin typeface="Proxima Nova"/>
                <a:ea typeface="Proxima Nova"/>
                <a:cs typeface="Proxima Nova"/>
                <a:sym typeface="Proxima Nova"/>
              </a:rPr>
              <a:t>Se puede mover libremente el mapa y al dar click en una zona o dirección se muestra una pestaña con la información que les corresponda.</a:t>
            </a:r>
            <a:endParaRPr sz="13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s" sz="1800">
                <a:solidFill>
                  <a:srgbClr val="FFFFFF"/>
                </a:solidFill>
                <a:latin typeface="Proxima Nova"/>
                <a:ea typeface="Proxima Nova"/>
                <a:cs typeface="Proxima Nova"/>
                <a:sym typeface="Proxima Nova"/>
              </a:rPr>
              <a:t> </a:t>
            </a:r>
            <a:endParaRPr sz="1800">
              <a:solidFill>
                <a:srgbClr val="FFFFFF"/>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